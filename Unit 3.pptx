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sldIdLst>
    <p:sldId id="261" r:id="rId2"/>
    <p:sldId id="256" r:id="rId3"/>
    <p:sldId id="257" r:id="rId4"/>
    <p:sldId id="258" r:id="rId5"/>
    <p:sldId id="263" r:id="rId6"/>
    <p:sldId id="260" r:id="rId7"/>
    <p:sldId id="262" r:id="rId8"/>
    <p:sldId id="266" r:id="rId9"/>
    <p:sldId id="264" r:id="rId10"/>
    <p:sldId id="259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13" autoAdjust="0"/>
  </p:normalViewPr>
  <p:slideViewPr>
    <p:cSldViewPr snapToGrid="0">
      <p:cViewPr>
        <p:scale>
          <a:sx n="75" d="100"/>
          <a:sy n="75" d="100"/>
        </p:scale>
        <p:origin x="516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30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7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7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7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1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5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0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70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3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1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85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429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56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71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36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20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A4FC7-C194-4434-9618-06F870C557D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04728-A5F1-4011-8C6A-EAB2A82C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06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difference-information-data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A1C-3F28-DFEB-10E9-5FB580A3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Computer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86663-0AAB-D4E9-302B-31C67016C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10" y="1795813"/>
            <a:ext cx="1351733" cy="797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Unit: 3</a:t>
            </a:r>
          </a:p>
        </p:txBody>
      </p:sp>
    </p:spTree>
    <p:extLst>
      <p:ext uri="{BB962C8B-B14F-4D97-AF65-F5344CB8AC3E}">
        <p14:creationId xmlns:p14="http://schemas.microsoft.com/office/powerpoint/2010/main" val="38737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3CA5-1377-50DC-8B6F-C0477665F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1546" y="334370"/>
            <a:ext cx="7993487" cy="886741"/>
          </a:xfrm>
        </p:spPr>
        <p:txBody>
          <a:bodyPr>
            <a:normAutofit/>
          </a:bodyPr>
          <a:lstStyle/>
          <a:p>
            <a:r>
              <a:rPr lang="en-US" dirty="0"/>
              <a:t>COMPUTER SOFTWARE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70BB8-EF71-22B4-9F91-414E8ACA1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14901"/>
            <a:ext cx="9144000" cy="5008729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/>
              <a:t>Computer software, or just software, is a collection of computer programs and related data that provides the instructions for telling a computer what to do and how to do it.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/>
              <a:t>A program is a set of instruction arranged in a logical way that a computer can run.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/>
              <a:t> Any set of instructions that guides the hardware and tells it how to accomplish each task.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/>
              <a:t>Hardware is tangible whereas software is intangible, i.e. it cannot be touched.</a:t>
            </a:r>
          </a:p>
        </p:txBody>
      </p:sp>
    </p:spTree>
    <p:extLst>
      <p:ext uri="{BB962C8B-B14F-4D97-AF65-F5344CB8AC3E}">
        <p14:creationId xmlns:p14="http://schemas.microsoft.com/office/powerpoint/2010/main" val="2419836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4FBFA-2B7A-7DE0-E9D7-0C032C15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2955"/>
            <a:ext cx="9253787" cy="793846"/>
          </a:xfrm>
        </p:spPr>
        <p:txBody>
          <a:bodyPr>
            <a:normAutofit/>
          </a:bodyPr>
          <a:lstStyle/>
          <a:p>
            <a:r>
              <a:rPr lang="en-US" dirty="0"/>
              <a:t>Classification of Software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C0331A-17C2-BB6C-459F-FC1151AA0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89" y="957939"/>
            <a:ext cx="11232107" cy="577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34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FFC5-FC09-461A-0383-13C71D3AF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846161"/>
            <a:ext cx="10353762" cy="55955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/>
              <a:t>System Software 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dirty="0"/>
              <a:t>System Software is a software which is designed in such a way so that it can control and work with computer hardware. It acts as an interface between the device and the end user.</a:t>
            </a:r>
          </a:p>
          <a:p>
            <a:pPr marL="0" indent="0">
              <a:buNone/>
            </a:pPr>
            <a:r>
              <a:rPr lang="en-US" dirty="0"/>
              <a:t>• Provides platform to other software programs. </a:t>
            </a:r>
          </a:p>
          <a:p>
            <a:pPr marL="0" indent="0">
              <a:buNone/>
            </a:pPr>
            <a:r>
              <a:rPr lang="en-US" dirty="0"/>
              <a:t>• Controls and works with hardware. </a:t>
            </a:r>
          </a:p>
          <a:p>
            <a:pPr marL="0" indent="0">
              <a:buNone/>
            </a:pPr>
            <a:r>
              <a:rPr lang="en-US" dirty="0"/>
              <a:t>• Enables the hardware tools to work together: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Transferring data between memory and disks.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Transferring data between memory and CPU.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Rendering output to output devices.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Receiving input from input devices. •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Operating system </a:t>
            </a:r>
          </a:p>
          <a:p>
            <a:pPr lvl="1"/>
            <a:r>
              <a:rPr lang="en-US" dirty="0"/>
              <a:t>System development programs </a:t>
            </a:r>
          </a:p>
          <a:p>
            <a:pPr lvl="1"/>
            <a:r>
              <a:rPr lang="en-US" dirty="0"/>
              <a:t>Device drivers</a:t>
            </a:r>
          </a:p>
        </p:txBody>
      </p:sp>
    </p:spTree>
    <p:extLst>
      <p:ext uri="{BB962C8B-B14F-4D97-AF65-F5344CB8AC3E}">
        <p14:creationId xmlns:p14="http://schemas.microsoft.com/office/powerpoint/2010/main" val="202302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D47A5-2D3E-660C-5AB7-E19991A79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566057"/>
            <a:ext cx="9376834" cy="522514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dirty="0"/>
              <a:t>Features of System Software</a:t>
            </a:r>
          </a:p>
          <a:p>
            <a:pPr marL="0" indent="0" algn="l">
              <a:buNone/>
            </a:pPr>
            <a:r>
              <a:rPr lang="en-US" sz="1800" dirty="0"/>
              <a:t>An important feature of System Software are: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System Software is closer to the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Generally written in a low-level language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The system software is difficult to design and understand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Fast in speed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Less interactive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Smaller in size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Hard to manipulate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9956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B9262-0574-93A4-316D-BCDF13755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4171"/>
            <a:ext cx="10987919" cy="6560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Application Software:</a:t>
            </a:r>
          </a:p>
          <a:p>
            <a:pPr marL="0" indent="0">
              <a:buNone/>
            </a:pPr>
            <a:r>
              <a:rPr lang="en-US" sz="2400" dirty="0"/>
              <a:t>An application program (application or app for short) is a computer program designed to carry out a specific task other than one relating to the operation of the computer itself, typically to be used by end-users. Word processors, media players, and accounting software are some examples of application software.</a:t>
            </a:r>
          </a:p>
          <a:p>
            <a:r>
              <a:rPr lang="en-US" sz="2400" dirty="0"/>
              <a:t>Application software has a variety of uses. Such as:</a:t>
            </a:r>
          </a:p>
          <a:p>
            <a:pPr lvl="1">
              <a:buFontTx/>
              <a:buChar char="-"/>
            </a:pPr>
            <a:r>
              <a:rPr lang="en-US" sz="2000" dirty="0"/>
              <a:t>To make business activities more efficient.</a:t>
            </a:r>
          </a:p>
          <a:p>
            <a:pPr lvl="1">
              <a:buFontTx/>
              <a:buChar char="-"/>
            </a:pPr>
            <a:r>
              <a:rPr lang="en-US" sz="2000" dirty="0"/>
              <a:t>To assist with graphics and multimedia projects.</a:t>
            </a:r>
          </a:p>
          <a:p>
            <a:pPr lvl="1">
              <a:buFontTx/>
              <a:buChar char="-"/>
            </a:pPr>
            <a:r>
              <a:rPr lang="en-US" sz="2000" dirty="0"/>
              <a:t>To support home, personal and educational tasks.</a:t>
            </a:r>
          </a:p>
          <a:p>
            <a:pPr lvl="1">
              <a:buFontTx/>
              <a:buChar char="-"/>
            </a:pPr>
            <a:r>
              <a:rPr lang="en-US" sz="2000" dirty="0"/>
              <a:t>To facilitate communications.</a:t>
            </a:r>
          </a:p>
        </p:txBody>
      </p:sp>
    </p:spTree>
    <p:extLst>
      <p:ext uri="{BB962C8B-B14F-4D97-AF65-F5344CB8AC3E}">
        <p14:creationId xmlns:p14="http://schemas.microsoft.com/office/powerpoint/2010/main" val="426442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11319-A036-B179-A664-417B3681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194" y="1080064"/>
            <a:ext cx="10755691" cy="511753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dirty="0"/>
              <a:t>Features of Application Software</a:t>
            </a:r>
          </a:p>
          <a:p>
            <a:pPr marL="0" indent="0" algn="l">
              <a:buNone/>
            </a:pPr>
            <a:r>
              <a:rPr lang="en-US" dirty="0"/>
              <a:t>An important feature of Application Software: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Perform more specialized tasks like word processing, spreadsheets, email, photo editing,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It needs more storage space as it is bigger in size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Easy to design and more interactive for the user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Generally written in a high-level language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5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4A9E4-6DC0-3231-88A5-9508DB843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765" y="322943"/>
            <a:ext cx="10770205" cy="621211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Application software can further be subdivided into 3 categories:  </a:t>
            </a:r>
          </a:p>
          <a:p>
            <a:pPr marL="0" indent="0">
              <a:buNone/>
            </a:pPr>
            <a:r>
              <a:rPr lang="en-US" sz="1800" dirty="0"/>
              <a:t> 1) General Purpose software:</a:t>
            </a:r>
          </a:p>
          <a:p>
            <a:pPr marL="0" indent="0">
              <a:buNone/>
            </a:pPr>
            <a:r>
              <a:rPr lang="en-US" sz="1800" dirty="0"/>
              <a:t>General-purpose application software is software used to perform a broad variety of tasks and is useful to nearly all computer users, such as word processing, graphics editing and spreadsheet applications.</a:t>
            </a:r>
          </a:p>
          <a:p>
            <a:pPr marL="0" indent="0" algn="just">
              <a:buNone/>
            </a:pPr>
            <a:r>
              <a:rPr lang="en-US" sz="1800" dirty="0"/>
              <a:t>2) Specialist software</a:t>
            </a:r>
          </a:p>
          <a:p>
            <a:pPr marL="0" indent="0" algn="just">
              <a:buNone/>
            </a:pPr>
            <a:r>
              <a:rPr lang="en-US" sz="1800" dirty="0"/>
              <a:t>Applications designed to be used for specific tasks such as company payroll, stock control systems, appointment systems, e-commerce sites, etc. Some examples are Library Ex+ for library management, Tally for financial accounting, etc.</a:t>
            </a:r>
          </a:p>
          <a:p>
            <a:pPr marL="0" indent="0" algn="just">
              <a:buNone/>
            </a:pPr>
            <a:r>
              <a:rPr lang="en-US" sz="1800" dirty="0"/>
              <a:t>3) Customized software</a:t>
            </a:r>
          </a:p>
          <a:p>
            <a:pPr marL="0" indent="0" algn="just">
              <a:buNone/>
            </a:pPr>
            <a:r>
              <a:rPr lang="en-US" sz="1800" dirty="0"/>
              <a:t>This type of software is tailor-made software according to the user's requirement. This type of software is developed to meet all the requirements specified by the user. For instance, a company wants to computerize its 'Accounts Department' and gets software developed according to the user's needs. This is also known as tailor made or bespoke(made for a particular customer or user ) software.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2A6C39-31AD-981A-70BE-8BEC218C9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4" y="0"/>
            <a:ext cx="8683540" cy="687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40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F932D-0DFB-E558-9DA9-ADD3DAD3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4974"/>
            <a:ext cx="9417560" cy="762214"/>
          </a:xfrm>
        </p:spPr>
        <p:txBody>
          <a:bodyPr/>
          <a:lstStyle/>
          <a:p>
            <a:r>
              <a:rPr lang="en-US" dirty="0"/>
              <a:t>Functions(Features) OF OS: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3DC98-57FA-9114-725D-D2E88201B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069" y="791571"/>
            <a:ext cx="11791665" cy="5841456"/>
          </a:xfrm>
        </p:spPr>
        <p:txBody>
          <a:bodyPr>
            <a:normAutofit fontScale="8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sz="3000" b="1" i="0" dirty="0">
                <a:effectLst/>
                <a:latin typeface="Source Sans Pro" panose="020B0503030403020204" pitchFamily="34" charset="0"/>
              </a:rPr>
              <a:t>Process management</a:t>
            </a:r>
            <a:r>
              <a:rPr lang="en-US" sz="3000" b="0" i="0" dirty="0">
                <a:effectLst/>
                <a:latin typeface="Source Sans Pro" panose="020B0503030403020204" pitchFamily="34" charset="0"/>
              </a:rPr>
              <a:t>: Process management helps OS to create and delete processes. It also provides mechanisms for synchronization and communication among processes.</a:t>
            </a:r>
          </a:p>
          <a:p>
            <a:pPr algn="l">
              <a:buFont typeface="+mj-lt"/>
              <a:buAutoNum type="arabicPeriod" startAt="2"/>
            </a:pPr>
            <a:r>
              <a:rPr lang="en-US" sz="3000" b="1" i="0" dirty="0">
                <a:effectLst/>
                <a:latin typeface="Source Sans Pro" panose="020B0503030403020204" pitchFamily="34" charset="0"/>
              </a:rPr>
              <a:t>Memory management:</a:t>
            </a:r>
            <a:r>
              <a:rPr lang="en-US" sz="3000" b="0" i="0" dirty="0">
                <a:effectLst/>
                <a:latin typeface="Source Sans Pro" panose="020B0503030403020204" pitchFamily="34" charset="0"/>
              </a:rPr>
              <a:t> Memory management module performs the task of allocation and de-allocation of memory space to programs in need of this resources.</a:t>
            </a:r>
          </a:p>
          <a:p>
            <a:pPr algn="l">
              <a:buFont typeface="+mj-lt"/>
              <a:buAutoNum type="arabicPeriod" startAt="3"/>
            </a:pPr>
            <a:r>
              <a:rPr lang="en-US" sz="3000" b="1" i="0" dirty="0">
                <a:effectLst/>
                <a:latin typeface="Source Sans Pro" panose="020B0503030403020204" pitchFamily="34" charset="0"/>
              </a:rPr>
              <a:t>File management</a:t>
            </a:r>
            <a:r>
              <a:rPr lang="en-US" sz="3000" b="0" i="0" dirty="0">
                <a:effectLst/>
                <a:latin typeface="Source Sans Pro" panose="020B0503030403020204" pitchFamily="34" charset="0"/>
              </a:rPr>
              <a:t>: It manages all the file-related activities such as organization storage, retrieval, naming, sharing, and protection of files.</a:t>
            </a:r>
          </a:p>
          <a:p>
            <a:pPr algn="l">
              <a:buFont typeface="+mj-lt"/>
              <a:buAutoNum type="arabicPeriod" startAt="4"/>
            </a:pPr>
            <a:r>
              <a:rPr lang="en-US" sz="3000" b="1" i="0" dirty="0">
                <a:effectLst/>
                <a:latin typeface="Source Sans Pro" panose="020B0503030403020204" pitchFamily="34" charset="0"/>
              </a:rPr>
              <a:t>Device Management</a:t>
            </a:r>
            <a:r>
              <a:rPr lang="en-US" sz="3000" b="0" i="0" dirty="0">
                <a:effectLst/>
                <a:latin typeface="Source Sans Pro" panose="020B0503030403020204" pitchFamily="34" charset="0"/>
              </a:rPr>
              <a:t>: Device management keeps tracks of all devices. This module also responsible for this task is known as the I/O controller. It also performs the task of allocation and de-allocation of the devices.</a:t>
            </a:r>
          </a:p>
          <a:p>
            <a:pPr algn="l">
              <a:buFont typeface="+mj-lt"/>
              <a:buAutoNum type="arabicPeriod" startAt="5"/>
            </a:pPr>
            <a:r>
              <a:rPr lang="en-US" sz="3000" b="1" i="0" dirty="0">
                <a:effectLst/>
                <a:latin typeface="Source Sans Pro" panose="020B0503030403020204" pitchFamily="34" charset="0"/>
              </a:rPr>
              <a:t>I/O System Management:</a:t>
            </a:r>
            <a:r>
              <a:rPr lang="en-US" sz="3000" b="0" i="0" dirty="0">
                <a:effectLst/>
                <a:latin typeface="Source Sans Pro" panose="020B0503030403020204" pitchFamily="34" charset="0"/>
              </a:rPr>
              <a:t> One of the main objects of any OS is to hide the peculiarities of that hardware devices from the user.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81358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4249C-CEDD-FF8E-B8B5-DF1B53F4E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42047"/>
            <a:ext cx="10353762" cy="5549153"/>
          </a:xfrm>
        </p:spPr>
        <p:txBody>
          <a:bodyPr>
            <a:normAutofit fontScale="85000" lnSpcReduction="10000"/>
          </a:bodyPr>
          <a:lstStyle/>
          <a:p>
            <a:pPr algn="l">
              <a:buFont typeface="+mj-lt"/>
              <a:buAutoNum type="arabicPeriod" startAt="6"/>
            </a:pPr>
            <a:r>
              <a:rPr lang="en-US" sz="2600" b="1" i="0" dirty="0">
                <a:effectLst/>
                <a:latin typeface="Source Sans Pro" panose="020B0503030403020204" pitchFamily="34" charset="0"/>
              </a:rPr>
              <a:t>Secondary-Storage Management</a:t>
            </a:r>
            <a:r>
              <a:rPr lang="en-US" sz="2600" b="0" i="0" dirty="0">
                <a:effectLst/>
                <a:latin typeface="Source Sans Pro" panose="020B0503030403020204" pitchFamily="34" charset="0"/>
              </a:rPr>
              <a:t>: Systems have several levels of storage which includes primary storage, secondary storage, and cache storage. Instructions and data must be stored in primary storage or cache so that a running program can reference it.</a:t>
            </a:r>
          </a:p>
          <a:p>
            <a:pPr algn="l">
              <a:buFont typeface="+mj-lt"/>
              <a:buAutoNum type="arabicPeriod" startAt="7"/>
            </a:pPr>
            <a:r>
              <a:rPr lang="en-US" sz="2600" b="1" i="0" dirty="0">
                <a:effectLst/>
                <a:latin typeface="Source Sans Pro" panose="020B0503030403020204" pitchFamily="34" charset="0"/>
              </a:rPr>
              <a:t>Security</a:t>
            </a:r>
            <a:r>
              <a:rPr lang="en-US" sz="2600" b="0" i="0" dirty="0">
                <a:effectLst/>
                <a:latin typeface="Source Sans Pro" panose="020B0503030403020204" pitchFamily="34" charset="0"/>
              </a:rPr>
              <a:t>: Security module protects the </a:t>
            </a:r>
            <a:r>
              <a:rPr lang="en-US" sz="2600" b="0" i="0" u="none" strike="noStrike" dirty="0">
                <a:effectLst/>
                <a:latin typeface="Source Sans Pro" panose="020B0503030403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and information</a:t>
            </a:r>
            <a:r>
              <a:rPr lang="en-US" sz="2600" b="0" i="0" dirty="0">
                <a:effectLst/>
                <a:latin typeface="Source Sans Pro" panose="020B0503030403020204" pitchFamily="34" charset="0"/>
              </a:rPr>
              <a:t> of a computer system against malware threat and authorized access.</a:t>
            </a:r>
          </a:p>
          <a:p>
            <a:pPr marL="0" indent="0" algn="l">
              <a:buNone/>
            </a:pPr>
            <a:r>
              <a:rPr lang="en-US" sz="2600" b="1" i="0" dirty="0">
                <a:effectLst/>
                <a:latin typeface="Source Sans Pro" panose="020B0503030403020204" pitchFamily="34" charset="0"/>
              </a:rPr>
              <a:t>8. Networking:</a:t>
            </a:r>
            <a:r>
              <a:rPr lang="en-US" sz="2600" b="0" i="0" dirty="0">
                <a:effectLst/>
                <a:latin typeface="Source Sans Pro" panose="020B0503030403020204" pitchFamily="34" charset="0"/>
              </a:rPr>
              <a:t> A distributed system is a group of processors which do not share memory, hardware devices, or a clock. The processors communicate with one another through the network.</a:t>
            </a:r>
          </a:p>
          <a:p>
            <a:pPr marL="0" indent="0" algn="l">
              <a:buNone/>
            </a:pPr>
            <a:r>
              <a:rPr lang="en-US" sz="2600" b="1" i="0" dirty="0">
                <a:effectLst/>
                <a:latin typeface="Source Sans Pro" panose="020B0503030403020204" pitchFamily="34" charset="0"/>
              </a:rPr>
              <a:t>9. Job accounting</a:t>
            </a:r>
            <a:r>
              <a:rPr lang="en-US" sz="2600" b="0" i="0" dirty="0">
                <a:effectLst/>
                <a:latin typeface="Source Sans Pro" panose="020B0503030403020204" pitchFamily="34" charset="0"/>
              </a:rPr>
              <a:t>: Keeping track of time &amp; resource used by various job and users.</a:t>
            </a:r>
          </a:p>
          <a:p>
            <a:pPr marL="0" indent="0" algn="l">
              <a:buNone/>
            </a:pPr>
            <a:r>
              <a:rPr lang="en-US" sz="2600" b="1" i="0" dirty="0">
                <a:effectLst/>
                <a:latin typeface="Source Sans Pro" panose="020B0503030403020204" pitchFamily="34" charset="0"/>
              </a:rPr>
              <a:t>10. Communication management</a:t>
            </a:r>
            <a:r>
              <a:rPr lang="en-US" sz="2600" b="0" i="0" dirty="0">
                <a:effectLst/>
                <a:latin typeface="Source Sans Pro" panose="020B0503030403020204" pitchFamily="34" charset="0"/>
              </a:rPr>
              <a:t>: Coordination and assignment of compilers, interpreters, and another software resource of the various users of the computer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448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499</TotalTime>
  <Words>855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</vt:lpstr>
      <vt:lpstr>Bookman Old Style</vt:lpstr>
      <vt:lpstr>Courier New</vt:lpstr>
      <vt:lpstr>Rockwell</vt:lpstr>
      <vt:lpstr>Source Sans Pro</vt:lpstr>
      <vt:lpstr>Damask</vt:lpstr>
      <vt:lpstr>Computer Software</vt:lpstr>
      <vt:lpstr>COMPUTER SOFTWARE </vt:lpstr>
      <vt:lpstr>Classification of 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Functions(Features) OF OS: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Software</dc:title>
  <dc:creator>sanket timsina</dc:creator>
  <cp:lastModifiedBy>sanket timsina</cp:lastModifiedBy>
  <cp:revision>8</cp:revision>
  <dcterms:created xsi:type="dcterms:W3CDTF">2022-06-27T09:21:22Z</dcterms:created>
  <dcterms:modified xsi:type="dcterms:W3CDTF">2024-09-16T05:15:49Z</dcterms:modified>
</cp:coreProperties>
</file>